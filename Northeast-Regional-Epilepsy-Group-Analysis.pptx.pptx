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6858000" cy="9144000"/>
  <p:embeddedFontLst>
    <p:embeddedFont>
      <p:font typeface="Merriweather Light"/>
      <p:regular r:id="rId21"/>
      <p:bold r:id="rId22"/>
      <p:italic r:id="rId23"/>
      <p:boldItalic r:id="rId24"/>
    </p:embeddedFont>
    <p:embeddedFont>
      <p:font typeface="Montserrat"/>
      <p:regular r:id="rId25"/>
      <p:bold r:id="rId26"/>
      <p:italic r:id="rId27"/>
      <p:boldItalic r:id="rId28"/>
    </p:embeddedFont>
    <p:embeddedFont>
      <p:font typeface="Open Sans SemiBold"/>
      <p:regular r:id="rId29"/>
      <p:bold r:id="rId30"/>
      <p:italic r:id="rId31"/>
      <p:boldItalic r:id="rId32"/>
    </p:embeddedFont>
    <p:embeddedFont>
      <p:font typeface="Vidaloka"/>
      <p:regular r:id="rId33"/>
    </p:embeddedFont>
    <p:embeddedFont>
      <p:font typeface="Russo One"/>
      <p:regular r:id="rId34"/>
    </p:embeddedFont>
    <p:embeddedFont>
      <p:font typeface="Mako"/>
      <p:regular r:id="rId35"/>
    </p:embeddedFont>
    <p:embeddedFont>
      <p:font typeface="Crimson Text"/>
      <p:regular r:id="rId36"/>
      <p:bold r:id="rId37"/>
      <p:italic r:id="rId38"/>
      <p:boldItalic r:id="rId39"/>
    </p:embeddedFont>
    <p:embeddedFont>
      <p:font typeface="Open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regular.fntdata"/><Relationship Id="rId42" Type="http://schemas.openxmlformats.org/officeDocument/2006/relationships/font" Target="fonts/OpenSans-italic.fntdata"/><Relationship Id="rId41" Type="http://schemas.openxmlformats.org/officeDocument/2006/relationships/font" Target="fonts/OpenSans-bold.fntdata"/><Relationship Id="rId43" Type="http://schemas.openxmlformats.org/officeDocument/2006/relationships/font" Target="fonts/OpenSa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SemiBold-italic.fntdata"/><Relationship Id="rId30" Type="http://schemas.openxmlformats.org/officeDocument/2006/relationships/font" Target="fonts/OpenSansSemiBold-bold.fntdata"/><Relationship Id="rId33" Type="http://schemas.openxmlformats.org/officeDocument/2006/relationships/font" Target="fonts/Vidaloka-regular.fntdata"/><Relationship Id="rId32" Type="http://schemas.openxmlformats.org/officeDocument/2006/relationships/font" Target="fonts/OpenSansSemiBold-boldItalic.fntdata"/><Relationship Id="rId35" Type="http://schemas.openxmlformats.org/officeDocument/2006/relationships/font" Target="fonts/Mako-regular.fntdata"/><Relationship Id="rId34" Type="http://schemas.openxmlformats.org/officeDocument/2006/relationships/font" Target="fonts/RussoOne-regular.fntdata"/><Relationship Id="rId37" Type="http://schemas.openxmlformats.org/officeDocument/2006/relationships/font" Target="fonts/CrimsonText-bold.fntdata"/><Relationship Id="rId36" Type="http://schemas.openxmlformats.org/officeDocument/2006/relationships/font" Target="fonts/CrimsonText-regular.fntdata"/><Relationship Id="rId39" Type="http://schemas.openxmlformats.org/officeDocument/2006/relationships/font" Target="fonts/CrimsonText-boldItalic.fntdata"/><Relationship Id="rId38" Type="http://schemas.openxmlformats.org/officeDocument/2006/relationships/font" Target="fonts/CrimsonText-italic.fntdata"/><Relationship Id="rId20" Type="http://schemas.openxmlformats.org/officeDocument/2006/relationships/slide" Target="slides/slide16.xml"/><Relationship Id="rId22" Type="http://schemas.openxmlformats.org/officeDocument/2006/relationships/font" Target="fonts/MerriweatherLight-bold.fntdata"/><Relationship Id="rId21" Type="http://schemas.openxmlformats.org/officeDocument/2006/relationships/font" Target="fonts/MerriweatherLight-regular.fntdata"/><Relationship Id="rId24" Type="http://schemas.openxmlformats.org/officeDocument/2006/relationships/font" Target="fonts/MerriweatherLight-boldItalic.fntdata"/><Relationship Id="rId23" Type="http://schemas.openxmlformats.org/officeDocument/2006/relationships/font" Target="fonts/MerriweatherLight-italic.fntdata"/><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29" Type="http://schemas.openxmlformats.org/officeDocument/2006/relationships/font" Target="fonts/OpenSansSemiBold-regular.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1b3732897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1b3732897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Akiva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1b37328976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1b37328976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Akiva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1b37328976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1b37328976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Akiva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1b37328976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1b37328976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Akiva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1b3732897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1b3732897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cd8a80d6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cd8a80d6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1b3732897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1b3732897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1b373289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1b373289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1b37328976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1b37328976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1c1e439885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1c1e439885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107a9a8b46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107a9a8b46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cf7a3c503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cf7a3c503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1b3732897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1b3732897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1b37328976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1b37328976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1b37328976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1b37328976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324500"/>
            <a:ext cx="70641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40000" y="3377100"/>
            <a:ext cx="7064100" cy="441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2714550" y="2366272"/>
            <a:ext cx="3714900" cy="8184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8" name="Google Shape;18;p3"/>
          <p:cNvSpPr txBox="1"/>
          <p:nvPr>
            <p:ph idx="1" type="subTitle"/>
          </p:nvPr>
        </p:nvSpPr>
        <p:spPr>
          <a:xfrm>
            <a:off x="2291400" y="3076675"/>
            <a:ext cx="4561200" cy="39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 name="Google Shape;20;p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 name="Google Shape;21;p3"/>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 name="Google Shape;22;p3"/>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26" name="Google Shape;26;p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 name="Google Shape;27;p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 name="Google Shape;28;p4"/>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2" name="Google Shape;32;p5"/>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 name="Google Shape;33;p5"/>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4" name="Google Shape;34;p5"/>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 name="Google Shape;36;p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 name="Google Shape;37;p5"/>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 name="Google Shape;41;p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44" name="Google Shape;44;p7"/>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5" name="Google Shape;45;p7"/>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6" name="Google Shape;46;p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 name="Google Shape;47;p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0" name="Google Shape;50;p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 name="Google Shape;51;p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 name="Google Shape;52;p8"/>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 name="Google Shape;53;p8"/>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9"/>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6" name="Google Shape;56;p9"/>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 name="Google Shape;58;p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 name="Google Shape;59;p9"/>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10"/>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62" name="Google Shape;62;p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3" name="Google Shape;63;p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 name="Google Shape;64;p10"/>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 name="Google Shape;69;p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0" name="Google Shape;70;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 name="Google Shape;71;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3" name="Shape 73"/>
        <p:cNvGrpSpPr/>
        <p:nvPr/>
      </p:nvGrpSpPr>
      <p:grpSpPr>
        <a:xfrm>
          <a:off x="0" y="0"/>
          <a:ext cx="0" cy="0"/>
          <a:chOff x="0" y="0"/>
          <a:chExt cx="0" cy="0"/>
        </a:xfrm>
      </p:grpSpPr>
      <p:sp>
        <p:nvSpPr>
          <p:cNvPr id="74" name="Google Shape;74;p1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p:nvPr>
            <p:ph idx="1" type="subTitle"/>
          </p:nvPr>
        </p:nvSpPr>
        <p:spPr>
          <a:xfrm>
            <a:off x="50010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6" name="Google Shape;76;p13"/>
          <p:cNvSpPr txBox="1"/>
          <p:nvPr>
            <p:ph idx="2" type="subTitle"/>
          </p:nvPr>
        </p:nvSpPr>
        <p:spPr>
          <a:xfrm>
            <a:off x="50010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3"/>
          <p:cNvSpPr txBox="1"/>
          <p:nvPr>
            <p:ph idx="3" type="subTitle"/>
          </p:nvPr>
        </p:nvSpPr>
        <p:spPr>
          <a:xfrm>
            <a:off x="16552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 name="Google Shape;78;p13"/>
          <p:cNvSpPr txBox="1"/>
          <p:nvPr>
            <p:ph idx="4" type="subTitle"/>
          </p:nvPr>
        </p:nvSpPr>
        <p:spPr>
          <a:xfrm>
            <a:off x="16552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3"/>
          <p:cNvSpPr txBox="1"/>
          <p:nvPr>
            <p:ph idx="5" type="subTitle"/>
          </p:nvPr>
        </p:nvSpPr>
        <p:spPr>
          <a:xfrm>
            <a:off x="50010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0" name="Google Shape;80;p13"/>
          <p:cNvSpPr txBox="1"/>
          <p:nvPr>
            <p:ph idx="6" type="subTitle"/>
          </p:nvPr>
        </p:nvSpPr>
        <p:spPr>
          <a:xfrm>
            <a:off x="500100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3"/>
          <p:cNvSpPr txBox="1"/>
          <p:nvPr>
            <p:ph idx="7" type="subTitle"/>
          </p:nvPr>
        </p:nvSpPr>
        <p:spPr>
          <a:xfrm>
            <a:off x="16552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2" name="Google Shape;82;p13"/>
          <p:cNvSpPr txBox="1"/>
          <p:nvPr>
            <p:ph idx="8" type="subTitle"/>
          </p:nvPr>
        </p:nvSpPr>
        <p:spPr>
          <a:xfrm>
            <a:off x="165525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3"/>
          <p:cNvSpPr txBox="1"/>
          <p:nvPr>
            <p:ph hasCustomPrompt="1" idx="9" type="title"/>
          </p:nvPr>
        </p:nvSpPr>
        <p:spPr>
          <a:xfrm>
            <a:off x="23786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p:nvPr>
            <p:ph hasCustomPrompt="1" idx="13" type="title"/>
          </p:nvPr>
        </p:nvSpPr>
        <p:spPr>
          <a:xfrm>
            <a:off x="57244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p:nvPr>
            <p:ph hasCustomPrompt="1" idx="14" type="title"/>
          </p:nvPr>
        </p:nvSpPr>
        <p:spPr>
          <a:xfrm>
            <a:off x="237870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p:nvPr>
            <p:ph hasCustomPrompt="1" idx="15" type="title"/>
          </p:nvPr>
        </p:nvSpPr>
        <p:spPr>
          <a:xfrm>
            <a:off x="572445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8" name="Google Shape;88;p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89" name="Shape 89"/>
        <p:cNvGrpSpPr/>
        <p:nvPr/>
      </p:nvGrpSpPr>
      <p:grpSpPr>
        <a:xfrm>
          <a:off x="0" y="0"/>
          <a:ext cx="0" cy="0"/>
          <a:chOff x="0" y="0"/>
          <a:chExt cx="0" cy="0"/>
        </a:xfrm>
      </p:grpSpPr>
      <p:sp>
        <p:nvSpPr>
          <p:cNvPr id="90" name="Google Shape;90;p14"/>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4"/>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3" name="Google Shape;93;p14"/>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4"/>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4"/>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9" name="Google Shape;99;p14"/>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4"/>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4"/>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 name="Google Shape;103;p14"/>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5" name="Google Shape;105;p14"/>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4"/>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14"/>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9" name="Google Shape;109;p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 name="Google Shape;110;p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 name="Google Shape;111;p1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2" name="Google Shape;112;p1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13" name="Shape 113"/>
        <p:cNvGrpSpPr/>
        <p:nvPr/>
      </p:nvGrpSpPr>
      <p:grpSpPr>
        <a:xfrm>
          <a:off x="0" y="0"/>
          <a:ext cx="0" cy="0"/>
          <a:chOff x="0" y="0"/>
          <a:chExt cx="0" cy="0"/>
        </a:xfrm>
      </p:grpSpPr>
      <p:sp>
        <p:nvSpPr>
          <p:cNvPr id="114" name="Google Shape;114;p15"/>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15" name="Google Shape;115;p15"/>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6" name="Google Shape;116;p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 name="Google Shape;117;p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118" name="Shape 118"/>
        <p:cNvGrpSpPr/>
        <p:nvPr/>
      </p:nvGrpSpPr>
      <p:grpSpPr>
        <a:xfrm>
          <a:off x="0" y="0"/>
          <a:ext cx="0" cy="0"/>
          <a:chOff x="0" y="0"/>
          <a:chExt cx="0" cy="0"/>
        </a:xfrm>
      </p:grpSpPr>
      <p:sp>
        <p:nvSpPr>
          <p:cNvPr id="119" name="Google Shape;119;p16"/>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20" name="Google Shape;120;p16"/>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21" name="Google Shape;121;p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2" name="Google Shape;122;p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3" name="Google Shape;123;p1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 name="Google Shape;124;p1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25" name="Shape 125"/>
        <p:cNvGrpSpPr/>
        <p:nvPr/>
      </p:nvGrpSpPr>
      <p:grpSpPr>
        <a:xfrm>
          <a:off x="0" y="0"/>
          <a:ext cx="0" cy="0"/>
          <a:chOff x="0" y="0"/>
          <a:chExt cx="0" cy="0"/>
        </a:xfrm>
      </p:grpSpPr>
      <p:sp>
        <p:nvSpPr>
          <p:cNvPr id="126" name="Google Shape;126;p17"/>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27" name="Google Shape;127;p17"/>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128" name="Google Shape;128;p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9" name="Google Shape;129;p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0" name="Google Shape;130;p1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 name="Google Shape;131;p1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32" name="Shape 132"/>
        <p:cNvGrpSpPr/>
        <p:nvPr/>
      </p:nvGrpSpPr>
      <p:grpSpPr>
        <a:xfrm>
          <a:off x="0" y="0"/>
          <a:ext cx="0" cy="0"/>
          <a:chOff x="0" y="0"/>
          <a:chExt cx="0" cy="0"/>
        </a:xfrm>
      </p:grpSpPr>
      <p:sp>
        <p:nvSpPr>
          <p:cNvPr id="133" name="Google Shape;133;p18"/>
          <p:cNvSpPr txBox="1"/>
          <p:nvPr>
            <p:ph type="title"/>
          </p:nvPr>
        </p:nvSpPr>
        <p:spPr>
          <a:xfrm>
            <a:off x="1994850" y="1482825"/>
            <a:ext cx="51543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9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134" name="Google Shape;134;p18"/>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135" name="Google Shape;135;p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 name="Google Shape;136;p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137" name="Shape 137"/>
        <p:cNvGrpSpPr/>
        <p:nvPr/>
      </p:nvGrpSpPr>
      <p:grpSpPr>
        <a:xfrm>
          <a:off x="0" y="0"/>
          <a:ext cx="0" cy="0"/>
          <a:chOff x="0" y="0"/>
          <a:chExt cx="0" cy="0"/>
        </a:xfrm>
      </p:grpSpPr>
      <p:sp>
        <p:nvSpPr>
          <p:cNvPr id="138" name="Google Shape;138;p19"/>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39" name="Google Shape;139;p19"/>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40" name="Google Shape;140;p1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1" name="Google Shape;141;p1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2" name="Google Shape;142;p1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3" name="Google Shape;143;p1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4" name="Google Shape;144;p1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5" name="Google Shape;145;p1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146" name="Shape 146"/>
        <p:cNvGrpSpPr/>
        <p:nvPr/>
      </p:nvGrpSpPr>
      <p:grpSpPr>
        <a:xfrm>
          <a:off x="0" y="0"/>
          <a:ext cx="0" cy="0"/>
          <a:chOff x="0" y="0"/>
          <a:chExt cx="0" cy="0"/>
        </a:xfrm>
      </p:grpSpPr>
      <p:sp>
        <p:nvSpPr>
          <p:cNvPr id="147" name="Google Shape;147;p20"/>
          <p:cNvSpPr txBox="1"/>
          <p:nvPr>
            <p:ph type="title"/>
          </p:nvPr>
        </p:nvSpPr>
        <p:spPr>
          <a:xfrm>
            <a:off x="1677925" y="2511803"/>
            <a:ext cx="3714900" cy="8058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8" name="Google Shape;148;p20"/>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49" name="Google Shape;149;p20"/>
          <p:cNvSpPr txBox="1"/>
          <p:nvPr>
            <p:ph idx="1" type="subTitle"/>
          </p:nvPr>
        </p:nvSpPr>
        <p:spPr>
          <a:xfrm>
            <a:off x="831625" y="3244000"/>
            <a:ext cx="4561200" cy="393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50" name="Google Shape;150;p20"/>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1" name="Google Shape;151;p20"/>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2" name="Google Shape;152;p20"/>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3" name="Google Shape;153;p20"/>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54" name="Shape 154"/>
        <p:cNvGrpSpPr/>
        <p:nvPr/>
      </p:nvGrpSpPr>
      <p:grpSpPr>
        <a:xfrm>
          <a:off x="0" y="0"/>
          <a:ext cx="0" cy="0"/>
          <a:chOff x="0" y="0"/>
          <a:chExt cx="0" cy="0"/>
        </a:xfrm>
      </p:grpSpPr>
      <p:sp>
        <p:nvSpPr>
          <p:cNvPr id="155" name="Google Shape;155;p21"/>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56" name="Google Shape;156;p2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7" name="Google Shape;157;p2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8" name="Google Shape;158;p21"/>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59"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1" name="Google Shape;161;p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2" name="Google Shape;162;p2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3" name="Google Shape;163;p2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4" name="Google Shape;164;p2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5" name="Google Shape;165;p22"/>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66" name="Google Shape;166;p2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167" name="Shape 167"/>
        <p:cNvGrpSpPr/>
        <p:nvPr/>
      </p:nvGrpSpPr>
      <p:grpSpPr>
        <a:xfrm>
          <a:off x="0" y="0"/>
          <a:ext cx="0" cy="0"/>
          <a:chOff x="0" y="0"/>
          <a:chExt cx="0" cy="0"/>
        </a:xfrm>
      </p:grpSpPr>
      <p:sp>
        <p:nvSpPr>
          <p:cNvPr id="168" name="Google Shape;168;p23"/>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9" name="Google Shape;169;p23"/>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0" name="Google Shape;170;p23"/>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1" name="Google Shape;171;p23"/>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2" name="Google Shape;172;p23"/>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3" name="Google Shape;173;p23"/>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4" name="Google Shape;174;p23"/>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5" name="Google Shape;175;p23"/>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6" name="Google Shape;176;p23"/>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77" name="Google Shape;177;p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78" name="Google Shape;178;p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179" name="Shape 179"/>
        <p:cNvGrpSpPr/>
        <p:nvPr/>
      </p:nvGrpSpPr>
      <p:grpSpPr>
        <a:xfrm>
          <a:off x="0" y="0"/>
          <a:ext cx="0" cy="0"/>
          <a:chOff x="0" y="0"/>
          <a:chExt cx="0" cy="0"/>
        </a:xfrm>
      </p:grpSpPr>
      <p:cxnSp>
        <p:nvCxnSpPr>
          <p:cNvPr id="180" name="Google Shape;180;p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1" name="Google Shape;181;p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2" name="Google Shape;182;p2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83" name="Google Shape;183;p2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84" name="Google Shape;184;p24"/>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185" name="Shape 185"/>
        <p:cNvGrpSpPr/>
        <p:nvPr/>
      </p:nvGrpSpPr>
      <p:grpSpPr>
        <a:xfrm>
          <a:off x="0" y="0"/>
          <a:ext cx="0" cy="0"/>
          <a:chOff x="0" y="0"/>
          <a:chExt cx="0" cy="0"/>
        </a:xfrm>
      </p:grpSpPr>
      <p:sp>
        <p:nvSpPr>
          <p:cNvPr id="186" name="Google Shape;186;p25"/>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87" name="Google Shape;187;p25"/>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88" name="Google Shape;188;p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9" name="Google Shape;189;p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0" name="Google Shape;190;p2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91" name="Google Shape;191;p2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192" name="Shape 192"/>
        <p:cNvGrpSpPr/>
        <p:nvPr/>
      </p:nvGrpSpPr>
      <p:grpSpPr>
        <a:xfrm>
          <a:off x="0" y="0"/>
          <a:ext cx="0" cy="0"/>
          <a:chOff x="0" y="0"/>
          <a:chExt cx="0" cy="0"/>
        </a:xfrm>
      </p:grpSpPr>
      <p:sp>
        <p:nvSpPr>
          <p:cNvPr id="193" name="Google Shape;193;p26"/>
          <p:cNvSpPr txBox="1"/>
          <p:nvPr>
            <p:ph type="title"/>
          </p:nvPr>
        </p:nvSpPr>
        <p:spPr>
          <a:xfrm>
            <a:off x="4956100" y="2467375"/>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94" name="Google Shape;194;p26"/>
          <p:cNvSpPr txBox="1"/>
          <p:nvPr>
            <p:ph hasCustomPrompt="1" idx="2" type="title"/>
          </p:nvPr>
        </p:nvSpPr>
        <p:spPr>
          <a:xfrm>
            <a:off x="4956100" y="1402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195" name="Google Shape;195;p26"/>
          <p:cNvSpPr txBox="1"/>
          <p:nvPr>
            <p:ph idx="1" type="subTitle"/>
          </p:nvPr>
        </p:nvSpPr>
        <p:spPr>
          <a:xfrm>
            <a:off x="4956100" y="3116275"/>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96" name="Google Shape;196;p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7" name="Google Shape;197;p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8" name="Google Shape;198;p26"/>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199" name="Shape 199"/>
        <p:cNvGrpSpPr/>
        <p:nvPr/>
      </p:nvGrpSpPr>
      <p:grpSpPr>
        <a:xfrm>
          <a:off x="0" y="0"/>
          <a:ext cx="0" cy="0"/>
          <a:chOff x="0" y="0"/>
          <a:chExt cx="0" cy="0"/>
        </a:xfrm>
      </p:grpSpPr>
      <p:sp>
        <p:nvSpPr>
          <p:cNvPr id="200" name="Google Shape;200;p27"/>
          <p:cNvSpPr txBox="1"/>
          <p:nvPr>
            <p:ph type="title"/>
          </p:nvPr>
        </p:nvSpPr>
        <p:spPr>
          <a:xfrm>
            <a:off x="4373850" y="944250"/>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1" name="Google Shape;201;p27"/>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2" name="Google Shape;202;p27"/>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3" name="Google Shape;203;p2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4" name="Google Shape;204;p2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5" name="Google Shape;205;p2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6" name="Google Shape;206;p2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7" name="Google Shape;207;p2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8" name="Google Shape;208;p2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209" name="Shape 209"/>
        <p:cNvGrpSpPr/>
        <p:nvPr/>
      </p:nvGrpSpPr>
      <p:grpSpPr>
        <a:xfrm>
          <a:off x="0" y="0"/>
          <a:ext cx="0" cy="0"/>
          <a:chOff x="0" y="0"/>
          <a:chExt cx="0" cy="0"/>
        </a:xfrm>
      </p:grpSpPr>
      <p:sp>
        <p:nvSpPr>
          <p:cNvPr id="210" name="Google Shape;210;p28"/>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1" name="Google Shape;211;p28"/>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2" name="Google Shape;212;p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3" name="Google Shape;213;p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4" name="Google Shape;214;p28"/>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215" name="Shape 215"/>
        <p:cNvGrpSpPr/>
        <p:nvPr/>
      </p:nvGrpSpPr>
      <p:grpSpPr>
        <a:xfrm>
          <a:off x="0" y="0"/>
          <a:ext cx="0" cy="0"/>
          <a:chOff x="0" y="0"/>
          <a:chExt cx="0" cy="0"/>
        </a:xfrm>
      </p:grpSpPr>
      <p:sp>
        <p:nvSpPr>
          <p:cNvPr id="216" name="Google Shape;216;p29"/>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7" name="Google Shape;217;p29"/>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8" name="Google Shape;218;p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9" name="Google Shape;219;p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0" name="Google Shape;220;p2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1" name="Google Shape;221;p2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2" name="Google Shape;222;p2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3" name="Google Shape;223;p2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224" name="Shape 224"/>
        <p:cNvGrpSpPr/>
        <p:nvPr/>
      </p:nvGrpSpPr>
      <p:grpSpPr>
        <a:xfrm>
          <a:off x="0" y="0"/>
          <a:ext cx="0" cy="0"/>
          <a:chOff x="0" y="0"/>
          <a:chExt cx="0" cy="0"/>
        </a:xfrm>
      </p:grpSpPr>
      <p:sp>
        <p:nvSpPr>
          <p:cNvPr id="225" name="Google Shape;225;p30"/>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26" name="Google Shape;226;p30"/>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27" name="Google Shape;227;p30"/>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28" name="Google Shape;228;p30"/>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29" name="Google Shape;229;p30"/>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0" name="Google Shape;230;p30"/>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1" name="Google Shape;231;p30"/>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32" name="Google Shape;232;p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3" name="Google Shape;233;p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234" name="Shape 234"/>
        <p:cNvGrpSpPr/>
        <p:nvPr/>
      </p:nvGrpSpPr>
      <p:grpSpPr>
        <a:xfrm>
          <a:off x="0" y="0"/>
          <a:ext cx="0" cy="0"/>
          <a:chOff x="0" y="0"/>
          <a:chExt cx="0" cy="0"/>
        </a:xfrm>
      </p:grpSpPr>
      <p:sp>
        <p:nvSpPr>
          <p:cNvPr id="235" name="Google Shape;235;p31"/>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6" name="Google Shape;236;p31"/>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7" name="Google Shape;237;p31"/>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8" name="Google Shape;238;p31"/>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9" name="Google Shape;239;p31"/>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0" name="Google Shape;240;p31"/>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1" name="Google Shape;241;p31"/>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242" name="Google Shape;242;p31"/>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3" name="Google Shape;243;p31"/>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4" name="Google Shape;244;p31"/>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5" name="Google Shape;245;p31"/>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6" name="Google Shape;246;p31"/>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7" name="Google Shape;247;p31"/>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248" name="Google Shape;248;p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49" name="Google Shape;249;p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0" name="Google Shape;250;p3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1" name="Google Shape;251;p3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
  <p:cSld name="CUSTOM_32">
    <p:spTree>
      <p:nvGrpSpPr>
        <p:cNvPr id="252" name="Shape 252"/>
        <p:cNvGrpSpPr/>
        <p:nvPr/>
      </p:nvGrpSpPr>
      <p:grpSpPr>
        <a:xfrm>
          <a:off x="0" y="0"/>
          <a:ext cx="0" cy="0"/>
          <a:chOff x="0" y="0"/>
          <a:chExt cx="0" cy="0"/>
        </a:xfrm>
      </p:grpSpPr>
      <p:sp>
        <p:nvSpPr>
          <p:cNvPr id="253" name="Google Shape;253;p32"/>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4" name="Google Shape;254;p32"/>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5" name="Google Shape;255;p32"/>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6" name="Google Shape;256;p32"/>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7" name="Google Shape;257;p32"/>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8" name="Google Shape;258;p32"/>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9" name="Google Shape;259;p32"/>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0" name="Google Shape;260;p32"/>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1" name="Google Shape;261;p32"/>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2" name="Google Shape;262;p32"/>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3" name="Google Shape;263;p32"/>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4" name="Google Shape;264;p32"/>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5" name="Google Shape;265;p32"/>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66" name="Google Shape;266;p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67" name="Google Shape;267;p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268" name="Shape 268"/>
        <p:cNvGrpSpPr/>
        <p:nvPr/>
      </p:nvGrpSpPr>
      <p:grpSpPr>
        <a:xfrm>
          <a:off x="0" y="0"/>
          <a:ext cx="0" cy="0"/>
          <a:chOff x="0" y="0"/>
          <a:chExt cx="0" cy="0"/>
        </a:xfrm>
      </p:grpSpPr>
      <p:sp>
        <p:nvSpPr>
          <p:cNvPr id="269" name="Google Shape;269;p33"/>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0" name="Google Shape;270;p33"/>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1" name="Google Shape;271;p33"/>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2" name="Google Shape;272;p33"/>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3" name="Google Shape;273;p33"/>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4" name="Google Shape;274;p33"/>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5" name="Google Shape;275;p33"/>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6" name="Google Shape;276;p33"/>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7" name="Google Shape;277;p33"/>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8" name="Google Shape;278;p33"/>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9" name="Google Shape;279;p33"/>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80" name="Google Shape;280;p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1" name="Google Shape;281;p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2" name="Google Shape;282;p3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3" name="Google Shape;283;p3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284" name="Shape 284"/>
        <p:cNvGrpSpPr/>
        <p:nvPr/>
      </p:nvGrpSpPr>
      <p:grpSpPr>
        <a:xfrm>
          <a:off x="0" y="0"/>
          <a:ext cx="0" cy="0"/>
          <a:chOff x="0" y="0"/>
          <a:chExt cx="0" cy="0"/>
        </a:xfrm>
      </p:grpSpPr>
      <p:sp>
        <p:nvSpPr>
          <p:cNvPr id="285" name="Google Shape;285;p34"/>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286" name="Google Shape;286;p3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7" name="Google Shape;287;p3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8" name="Google Shape;288;p3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9" name="Google Shape;289;p3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0" name="Google Shape;290;p3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1" name="Google Shape;291;p3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292" name="Shape 292"/>
        <p:cNvGrpSpPr/>
        <p:nvPr/>
      </p:nvGrpSpPr>
      <p:grpSpPr>
        <a:xfrm>
          <a:off x="0" y="0"/>
          <a:ext cx="0" cy="0"/>
          <a:chOff x="0" y="0"/>
          <a:chExt cx="0" cy="0"/>
        </a:xfrm>
      </p:grpSpPr>
      <p:sp>
        <p:nvSpPr>
          <p:cNvPr id="293" name="Google Shape;293;p35"/>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4" name="Google Shape;294;p35"/>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5" name="Google Shape;295;p35"/>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6" name="Google Shape;296;p35"/>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7" name="Google Shape;297;p35"/>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8" name="Google Shape;298;p35"/>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9" name="Google Shape;299;p35"/>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0" name="Google Shape;300;p35"/>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1" name="Google Shape;301;p35"/>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02" name="Google Shape;302;p3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03" name="Google Shape;303;p3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304" name="Shape 304"/>
        <p:cNvGrpSpPr/>
        <p:nvPr/>
      </p:nvGrpSpPr>
      <p:grpSpPr>
        <a:xfrm>
          <a:off x="0" y="0"/>
          <a:ext cx="0" cy="0"/>
          <a:chOff x="0" y="0"/>
          <a:chExt cx="0" cy="0"/>
        </a:xfrm>
      </p:grpSpPr>
      <p:sp>
        <p:nvSpPr>
          <p:cNvPr id="305" name="Google Shape;305;p36"/>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6" name="Google Shape;306;p36"/>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7" name="Google Shape;307;p36"/>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8" name="Google Shape;308;p36"/>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9" name="Google Shape;309;p36"/>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0" name="Google Shape;310;p36"/>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1" name="Google Shape;311;p36"/>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12" name="Google Shape;312;p3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3" name="Google Shape;313;p3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4" name="Google Shape;314;p36"/>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315" name="Shape 315"/>
        <p:cNvGrpSpPr/>
        <p:nvPr/>
      </p:nvGrpSpPr>
      <p:grpSpPr>
        <a:xfrm>
          <a:off x="0" y="0"/>
          <a:ext cx="0" cy="0"/>
          <a:chOff x="0" y="0"/>
          <a:chExt cx="0" cy="0"/>
        </a:xfrm>
      </p:grpSpPr>
      <p:cxnSp>
        <p:nvCxnSpPr>
          <p:cNvPr id="316" name="Google Shape;316;p3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7" name="Google Shape;317;p3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8" name="Google Shape;318;p3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19" name="Google Shape;319;p3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0" name="Google Shape;320;p3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1" name="Google Shape;321;p3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22" name="Google Shape;322;p37"/>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3" name="Google Shape;323;p37"/>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4" name="Google Shape;324;p37"/>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5" name="Google Shape;325;p37"/>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6" name="Google Shape;326;p37"/>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7" name="Google Shape;327;p37"/>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8" name="Google Shape;328;p37"/>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9" name="Google Shape;329;p37"/>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0" name="Google Shape;330;p37"/>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1" name="Google Shape;331;p37"/>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335" name="Shape 335"/>
        <p:cNvGrpSpPr/>
        <p:nvPr/>
      </p:nvGrpSpPr>
      <p:grpSpPr>
        <a:xfrm>
          <a:off x="0" y="0"/>
          <a:ext cx="0" cy="0"/>
          <a:chOff x="0" y="0"/>
          <a:chExt cx="0" cy="0"/>
        </a:xfrm>
      </p:grpSpPr>
      <p:sp>
        <p:nvSpPr>
          <p:cNvPr id="336" name="Google Shape;336;p38"/>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37" name="Google Shape;337;p38"/>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38" name="Google Shape;338;p38"/>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39" name="Google Shape;339;p38"/>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0" name="Google Shape;340;p38"/>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1" name="Google Shape;341;p38"/>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2" name="Google Shape;342;p38"/>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43" name="Google Shape;343;p3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44" name="Google Shape;344;p3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345" name="Shape 345"/>
        <p:cNvGrpSpPr/>
        <p:nvPr/>
      </p:nvGrpSpPr>
      <p:grpSpPr>
        <a:xfrm>
          <a:off x="0" y="0"/>
          <a:ext cx="0" cy="0"/>
          <a:chOff x="0" y="0"/>
          <a:chExt cx="0" cy="0"/>
        </a:xfrm>
      </p:grpSpPr>
      <p:sp>
        <p:nvSpPr>
          <p:cNvPr id="346" name="Google Shape;346;p39"/>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7" name="Google Shape;347;p39"/>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48" name="Google Shape;348;p39"/>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9" name="Google Shape;349;p39"/>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0" name="Google Shape;350;p39"/>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1" name="Google Shape;351;p39"/>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2" name="Google Shape;352;p39"/>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3" name="Google Shape;353;p39"/>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4" name="Google Shape;354;p39"/>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55" name="Google Shape;355;p3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6" name="Google Shape;356;p3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357" name="Shape 357"/>
        <p:cNvGrpSpPr/>
        <p:nvPr/>
      </p:nvGrpSpPr>
      <p:grpSpPr>
        <a:xfrm>
          <a:off x="0" y="0"/>
          <a:ext cx="0" cy="0"/>
          <a:chOff x="0" y="0"/>
          <a:chExt cx="0" cy="0"/>
        </a:xfrm>
      </p:grpSpPr>
      <p:cxnSp>
        <p:nvCxnSpPr>
          <p:cNvPr id="358" name="Google Shape;358;p4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9" name="Google Shape;359;p4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0" name="Google Shape;360;p4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1" name="Google Shape;361;p4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2" name="Google Shape;362;p4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3" name="Google Shape;363;p4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64" name="Google Shape;364;p40"/>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65" name="Google Shape;365;p40"/>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6" name="Google Shape;366;p40"/>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67" name="Google Shape;367;p40"/>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8" name="Google Shape;368;p40"/>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369" name="Google Shape;369;p40"/>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0" name="Google Shape;370;p40"/>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371" name="Shape 371"/>
        <p:cNvGrpSpPr/>
        <p:nvPr/>
      </p:nvGrpSpPr>
      <p:grpSpPr>
        <a:xfrm>
          <a:off x="0" y="0"/>
          <a:ext cx="0" cy="0"/>
          <a:chOff x="0" y="0"/>
          <a:chExt cx="0" cy="0"/>
        </a:xfrm>
      </p:grpSpPr>
      <p:sp>
        <p:nvSpPr>
          <p:cNvPr id="372" name="Google Shape;372;p41"/>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3" name="Google Shape;373;p41"/>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4" name="Google Shape;374;p41"/>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5" name="Google Shape;375;p41"/>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6" name="Google Shape;376;p41"/>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7" name="Google Shape;377;p41"/>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78" name="Google Shape;378;p4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9" name="Google Shape;379;p4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380" name="Shape 380"/>
        <p:cNvGrpSpPr/>
        <p:nvPr/>
      </p:nvGrpSpPr>
      <p:grpSpPr>
        <a:xfrm>
          <a:off x="0" y="0"/>
          <a:ext cx="0" cy="0"/>
          <a:chOff x="0" y="0"/>
          <a:chExt cx="0" cy="0"/>
        </a:xfrm>
      </p:grpSpPr>
      <p:sp>
        <p:nvSpPr>
          <p:cNvPr id="381" name="Google Shape;381;p42"/>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2" name="Google Shape;382;p42"/>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3" name="Google Shape;383;p42"/>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4" name="Google Shape;384;p42"/>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5" name="Google Shape;385;p42"/>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6" name="Google Shape;386;p42"/>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87" name="Google Shape;387;p4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8" name="Google Shape;388;p4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9" name="Google Shape;389;p4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0" name="Google Shape;390;p4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1" name="Google Shape;391;p4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92" name="Google Shape;392;p42"/>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3" name="Google Shape;393;p42"/>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4" name="Google Shape;394;p42"/>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395" name="Shape 395"/>
        <p:cNvGrpSpPr/>
        <p:nvPr/>
      </p:nvGrpSpPr>
      <p:grpSpPr>
        <a:xfrm>
          <a:off x="0" y="0"/>
          <a:ext cx="0" cy="0"/>
          <a:chOff x="0" y="0"/>
          <a:chExt cx="0" cy="0"/>
        </a:xfrm>
      </p:grpSpPr>
      <p:sp>
        <p:nvSpPr>
          <p:cNvPr id="396" name="Google Shape;396;p43"/>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7" name="Google Shape;397;p43"/>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398" name="Google Shape;398;p4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9" name="Google Shape;399;p4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400" name="Shape 400"/>
        <p:cNvGrpSpPr/>
        <p:nvPr/>
      </p:nvGrpSpPr>
      <p:grpSpPr>
        <a:xfrm>
          <a:off x="0" y="0"/>
          <a:ext cx="0" cy="0"/>
          <a:chOff x="0" y="0"/>
          <a:chExt cx="0" cy="0"/>
        </a:xfrm>
      </p:grpSpPr>
      <p:sp>
        <p:nvSpPr>
          <p:cNvPr id="401" name="Google Shape;401;p44"/>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402" name="Google Shape;402;p44"/>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403" name="Google Shape;403;p4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4" name="Google Shape;404;p4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405" name="Shape 405"/>
        <p:cNvGrpSpPr/>
        <p:nvPr/>
      </p:nvGrpSpPr>
      <p:grpSpPr>
        <a:xfrm>
          <a:off x="0" y="0"/>
          <a:ext cx="0" cy="0"/>
          <a:chOff x="0" y="0"/>
          <a:chExt cx="0" cy="0"/>
        </a:xfrm>
      </p:grpSpPr>
      <p:sp>
        <p:nvSpPr>
          <p:cNvPr id="406" name="Google Shape;406;p45"/>
          <p:cNvSpPr txBox="1"/>
          <p:nvPr>
            <p:ph idx="1" type="subTitle"/>
          </p:nvPr>
        </p:nvSpPr>
        <p:spPr>
          <a:xfrm>
            <a:off x="4166800" y="1453525"/>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407" name="Google Shape;407;p45"/>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08" name="Google Shape;408;p4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9" name="Google Shape;409;p4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0" name="Google Shape;410;p45"/>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411" name="Shape 411"/>
        <p:cNvGrpSpPr/>
        <p:nvPr/>
      </p:nvGrpSpPr>
      <p:grpSpPr>
        <a:xfrm>
          <a:off x="0" y="0"/>
          <a:ext cx="0" cy="0"/>
          <a:chOff x="0" y="0"/>
          <a:chExt cx="0" cy="0"/>
        </a:xfrm>
      </p:grpSpPr>
      <p:cxnSp>
        <p:nvCxnSpPr>
          <p:cNvPr id="412" name="Google Shape;412;p4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3" name="Google Shape;413;p4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4" name="Google Shape;414;p46"/>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5" name="Google Shape;415;p4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6" name="Google Shape;416;p4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7" name="Google Shape;417;p4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418" name="Google Shape;418;p46"/>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19" name="Google Shape;419;p46"/>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20" name="Google Shape;420;p46"/>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421" name="Shape 421"/>
        <p:cNvGrpSpPr/>
        <p:nvPr/>
      </p:nvGrpSpPr>
      <p:grpSpPr>
        <a:xfrm>
          <a:off x="0" y="0"/>
          <a:ext cx="0" cy="0"/>
          <a:chOff x="0" y="0"/>
          <a:chExt cx="0" cy="0"/>
        </a:xfrm>
      </p:grpSpPr>
      <p:sp>
        <p:nvSpPr>
          <p:cNvPr id="422" name="Google Shape;422;p47"/>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3" name="Google Shape;423;p47"/>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24" name="Google Shape;424;p47"/>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5" name="Google Shape;425;p47"/>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26" name="Google Shape;426;p47"/>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27" name="Google Shape;427;p4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28" name="Google Shape;428;p4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429" name="Shape 429"/>
        <p:cNvGrpSpPr/>
        <p:nvPr/>
      </p:nvGrpSpPr>
      <p:grpSpPr>
        <a:xfrm>
          <a:off x="0" y="0"/>
          <a:ext cx="0" cy="0"/>
          <a:chOff x="0" y="0"/>
          <a:chExt cx="0" cy="0"/>
        </a:xfrm>
      </p:grpSpPr>
      <p:sp>
        <p:nvSpPr>
          <p:cNvPr id="430" name="Google Shape;430;p48"/>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31" name="Google Shape;431;p48"/>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2" name="Google Shape;432;p48"/>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3" name="Google Shape;433;p48"/>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4" name="Google Shape;434;p48"/>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5" name="Google Shape;435;p48"/>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6" name="Google Shape;436;p48"/>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37" name="Google Shape;437;p4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8" name="Google Shape;438;p4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9" name="Google Shape;439;p4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0" name="Google Shape;440;p4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41" name="Shape 441"/>
        <p:cNvGrpSpPr/>
        <p:nvPr/>
      </p:nvGrpSpPr>
      <p:grpSpPr>
        <a:xfrm>
          <a:off x="0" y="0"/>
          <a:ext cx="0" cy="0"/>
          <a:chOff x="0" y="0"/>
          <a:chExt cx="0" cy="0"/>
        </a:xfrm>
      </p:grpSpPr>
      <p:sp>
        <p:nvSpPr>
          <p:cNvPr id="442" name="Google Shape;442;p49"/>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443" name="Google Shape;443;p49"/>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4" name="Google Shape;444;p49"/>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6" name="Google Shape;446;p49"/>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7" name="Google Shape;447;p4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8" name="Google Shape;448;p49"/>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449"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1" name="Google Shape;451;p5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452"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4" name="Google Shape;454;p5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5" name="Google Shape;455;p51"/>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56" name="Google Shape;456;p51"/>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457"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9" name="Google Shape;459;p5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0" name="Google Shape;460;p52"/>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46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3" name="Google Shape;463;p5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4" name="Google Shape;464;p5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5" name="Google Shape;465;p5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6" name="Google Shape;466;p5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7" name="Google Shape;467;p5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theme" Target="../theme/theme2.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hyperlink" Target="mailto:Email-ericbjsegal@gmail.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4"/>
          <p:cNvSpPr txBox="1"/>
          <p:nvPr>
            <p:ph type="ctrTitle"/>
          </p:nvPr>
        </p:nvSpPr>
        <p:spPr>
          <a:xfrm>
            <a:off x="1039925" y="1651800"/>
            <a:ext cx="7064100" cy="11853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a:t>Team 3</a:t>
            </a:r>
            <a:endParaRPr/>
          </a:p>
        </p:txBody>
      </p:sp>
      <p:sp>
        <p:nvSpPr>
          <p:cNvPr id="473" name="Google Shape;473;p54"/>
          <p:cNvSpPr txBox="1"/>
          <p:nvPr>
            <p:ph idx="1" type="subTitle"/>
          </p:nvPr>
        </p:nvSpPr>
        <p:spPr>
          <a:xfrm>
            <a:off x="1039975" y="3049800"/>
            <a:ext cx="7064100" cy="44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Ryan Azzara, Inaya Khan, Alexa Saniel, Akiva Segal, Toyoaki Yahagi</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72"/>
                                        </p:tgtEl>
                                        <p:attrNameLst>
                                          <p:attrName>style.visibility</p:attrName>
                                        </p:attrNameLst>
                                      </p:cBhvr>
                                      <p:to>
                                        <p:strVal val="visible"/>
                                      </p:to>
                                    </p:set>
                                    <p:anim calcmode="lin" valueType="num">
                                      <p:cBhvr additive="base">
                                        <p:cTn dur="1000"/>
                                        <p:tgtEl>
                                          <p:spTgt spid="47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473"/>
                                        </p:tgtEl>
                                        <p:attrNameLst>
                                          <p:attrName>style.visibility</p:attrName>
                                        </p:attrNameLst>
                                      </p:cBhvr>
                                      <p:to>
                                        <p:strVal val="visible"/>
                                      </p:to>
                                    </p:set>
                                    <p:anim calcmode="lin" valueType="num">
                                      <p:cBhvr additive="base">
                                        <p:cTn dur="1000"/>
                                        <p:tgtEl>
                                          <p:spTgt spid="47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5"/>
          <p:cNvSpPr txBox="1"/>
          <p:nvPr>
            <p:ph type="title"/>
          </p:nvPr>
        </p:nvSpPr>
        <p:spPr>
          <a:xfrm>
            <a:off x="16925" y="428300"/>
            <a:ext cx="3722100" cy="49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Company Access</a:t>
            </a:r>
            <a:endParaRPr/>
          </a:p>
        </p:txBody>
      </p:sp>
      <p:sp>
        <p:nvSpPr>
          <p:cNvPr id="479" name="Google Shape;479;p55"/>
          <p:cNvSpPr txBox="1"/>
          <p:nvPr/>
        </p:nvSpPr>
        <p:spPr>
          <a:xfrm>
            <a:off x="317525" y="1548475"/>
            <a:ext cx="3120900" cy="9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Montserrat"/>
                <a:ea typeface="Montserrat"/>
                <a:cs typeface="Montserrat"/>
                <a:sym typeface="Montserrat"/>
              </a:rPr>
              <a:t>Contact </a:t>
            </a:r>
            <a:r>
              <a:rPr lang="en" sz="1800">
                <a:solidFill>
                  <a:schemeClr val="dk2"/>
                </a:solidFill>
                <a:latin typeface="Montserrat"/>
                <a:ea typeface="Montserrat"/>
                <a:cs typeface="Montserrat"/>
                <a:sym typeface="Montserrat"/>
              </a:rPr>
              <a:t>within company: Dr. Eric Segal</a:t>
            </a:r>
            <a:endParaRPr sz="1800">
              <a:solidFill>
                <a:schemeClr val="dk2"/>
              </a:solidFill>
              <a:latin typeface="Montserrat"/>
              <a:ea typeface="Montserrat"/>
              <a:cs typeface="Montserrat"/>
              <a:sym typeface="Montserrat"/>
            </a:endParaRPr>
          </a:p>
        </p:txBody>
      </p:sp>
      <p:pic>
        <p:nvPicPr>
          <p:cNvPr id="480" name="Google Shape;480;p55"/>
          <p:cNvPicPr preferRelativeResize="0"/>
          <p:nvPr/>
        </p:nvPicPr>
        <p:blipFill>
          <a:blip r:embed="rId3">
            <a:alphaModFix/>
          </a:blip>
          <a:stretch>
            <a:fillRect/>
          </a:stretch>
        </p:blipFill>
        <p:spPr>
          <a:xfrm>
            <a:off x="4211250" y="1611125"/>
            <a:ext cx="4715750" cy="1921250"/>
          </a:xfrm>
          <a:prstGeom prst="rect">
            <a:avLst/>
          </a:prstGeom>
          <a:noFill/>
          <a:ln>
            <a:noFill/>
          </a:ln>
        </p:spPr>
      </p:pic>
      <p:sp>
        <p:nvSpPr>
          <p:cNvPr id="481" name="Google Shape;481;p55"/>
          <p:cNvSpPr txBox="1"/>
          <p:nvPr/>
        </p:nvSpPr>
        <p:spPr>
          <a:xfrm>
            <a:off x="263150" y="2295175"/>
            <a:ext cx="4034100" cy="8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Montserrat"/>
                <a:ea typeface="Montserrat"/>
                <a:cs typeface="Montserrat"/>
                <a:sym typeface="Montserrat"/>
              </a:rPr>
              <a:t>Contact Information: </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hlink"/>
                </a:solidFill>
                <a:uFill>
                  <a:noFill/>
                </a:uFill>
                <a:latin typeface="Montserrat"/>
                <a:ea typeface="Montserrat"/>
                <a:cs typeface="Montserrat"/>
                <a:sym typeface="Montserrat"/>
                <a:hlinkClick r:id="rId4"/>
              </a:rPr>
              <a:t>Email</a:t>
            </a:r>
            <a:r>
              <a:rPr lang="en" sz="1800">
                <a:solidFill>
                  <a:schemeClr val="dk2"/>
                </a:solidFill>
                <a:latin typeface="Montserrat"/>
                <a:ea typeface="Montserrat"/>
                <a:cs typeface="Montserrat"/>
                <a:sym typeface="Montserrat"/>
              </a:rPr>
              <a:t>-epilepsynj@epilepsygroup.com</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hlink"/>
                </a:solidFill>
                <a:latin typeface="Montserrat"/>
                <a:ea typeface="Montserrat"/>
                <a:cs typeface="Montserrat"/>
                <a:sym typeface="Montserrat"/>
              </a:rPr>
              <a:t>Phone - 2013436676</a:t>
            </a:r>
            <a:endParaRPr sz="1800">
              <a:solidFill>
                <a:schemeClr val="dk2"/>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6"/>
          <p:cNvSpPr txBox="1"/>
          <p:nvPr>
            <p:ph type="title"/>
          </p:nvPr>
        </p:nvSpPr>
        <p:spPr>
          <a:xfrm>
            <a:off x="377025" y="568153"/>
            <a:ext cx="4323000" cy="49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Background Information</a:t>
            </a:r>
            <a:endParaRPr/>
          </a:p>
        </p:txBody>
      </p:sp>
      <p:sp>
        <p:nvSpPr>
          <p:cNvPr id="487" name="Google Shape;487;p56"/>
          <p:cNvSpPr txBox="1"/>
          <p:nvPr>
            <p:ph idx="1" type="subTitle"/>
          </p:nvPr>
        </p:nvSpPr>
        <p:spPr>
          <a:xfrm>
            <a:off x="491525" y="1237875"/>
            <a:ext cx="8123100" cy="3428400"/>
          </a:xfrm>
          <a:prstGeom prst="rect">
            <a:avLst/>
          </a:prstGeom>
        </p:spPr>
        <p:txBody>
          <a:bodyPr anchorCtr="0" anchor="t" bIns="91425" lIns="91425" spcFirstLastPara="1" rIns="91425" wrap="square" tIns="91425">
            <a:noAutofit/>
          </a:bodyPr>
          <a:lstStyle/>
          <a:p>
            <a:pPr indent="-317500" lvl="0" marL="457200" rtl="0" algn="l">
              <a:lnSpc>
                <a:spcPct val="200000"/>
              </a:lnSpc>
              <a:spcBef>
                <a:spcPts val="0"/>
              </a:spcBef>
              <a:spcAft>
                <a:spcPts val="0"/>
              </a:spcAft>
              <a:buClr>
                <a:schemeClr val="dk1"/>
              </a:buClr>
              <a:buSzPts val="1400"/>
              <a:buChar char="●"/>
            </a:pPr>
            <a:r>
              <a:rPr lang="en" sz="1400">
                <a:solidFill>
                  <a:schemeClr val="dk1"/>
                </a:solidFill>
              </a:rPr>
              <a:t>The epilepsy program at Northeastern Regional Epilepsy Group is a for-profit medical care company founded in 1988 to provide exceptional health care for those living in Northeast America</a:t>
            </a:r>
            <a:endParaRPr sz="1400">
              <a:solidFill>
                <a:schemeClr val="dk1"/>
              </a:solidFill>
            </a:endParaRPr>
          </a:p>
          <a:p>
            <a:pPr indent="-317500" lvl="0" marL="457200" rtl="0" algn="l">
              <a:lnSpc>
                <a:spcPct val="200000"/>
              </a:lnSpc>
              <a:spcBef>
                <a:spcPts val="0"/>
              </a:spcBef>
              <a:spcAft>
                <a:spcPts val="0"/>
              </a:spcAft>
              <a:buClr>
                <a:schemeClr val="dk1"/>
              </a:buClr>
              <a:buSzPts val="1400"/>
              <a:buChar char="●"/>
            </a:pPr>
            <a:r>
              <a:rPr lang="en" sz="1400"/>
              <a:t>~</a:t>
            </a:r>
            <a:r>
              <a:rPr lang="en" sz="1400">
                <a:solidFill>
                  <a:schemeClr val="dk1"/>
                </a:solidFill>
              </a:rPr>
              <a:t>50</a:t>
            </a:r>
            <a:r>
              <a:rPr lang="en" sz="1400">
                <a:solidFill>
                  <a:schemeClr val="dk1"/>
                </a:solidFill>
              </a:rPr>
              <a:t> employees, including doctors, nurses, nutritionists, technicians, researchers, psychologists, managers, and other specialists</a:t>
            </a:r>
            <a:endParaRPr sz="1400">
              <a:solidFill>
                <a:schemeClr val="dk1"/>
              </a:solidFill>
            </a:endParaRPr>
          </a:p>
          <a:p>
            <a:pPr indent="-317500" lvl="0" marL="457200" rtl="0" algn="l">
              <a:lnSpc>
                <a:spcPct val="200000"/>
              </a:lnSpc>
              <a:spcBef>
                <a:spcPts val="0"/>
              </a:spcBef>
              <a:spcAft>
                <a:spcPts val="0"/>
              </a:spcAft>
              <a:buClr>
                <a:schemeClr val="dk1"/>
              </a:buClr>
              <a:buSzPts val="1400"/>
              <a:buChar char="●"/>
            </a:pPr>
            <a:r>
              <a:rPr lang="en" sz="1400">
                <a:solidFill>
                  <a:schemeClr val="dk1"/>
                </a:solidFill>
              </a:rPr>
              <a:t>By seeing the gap in the healthcare system where patients were often misdiagnosed or treated poorly, Dr. Marcelo Lancman, the founder of the group, was motivated to change the industry</a:t>
            </a:r>
            <a:endParaRPr sz="1400">
              <a:solidFill>
                <a:schemeClr val="dk1"/>
              </a:solidFill>
            </a:endParaRPr>
          </a:p>
          <a:p>
            <a:pPr indent="0" lvl="0" marL="0" rtl="0" algn="ctr">
              <a:spcBef>
                <a:spcPts val="0"/>
              </a:spcBef>
              <a:spcAft>
                <a:spcPts val="1200"/>
              </a:spcAft>
              <a:buNone/>
            </a:pPr>
            <a:r>
              <a:t/>
            </a:r>
            <a:endParaRPr sz="1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7"/>
          <p:cNvSpPr txBox="1"/>
          <p:nvPr>
            <p:ph type="title"/>
          </p:nvPr>
        </p:nvSpPr>
        <p:spPr>
          <a:xfrm>
            <a:off x="252275" y="568150"/>
            <a:ext cx="5654700" cy="49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Innovation and Link to UN Goals</a:t>
            </a:r>
            <a:endParaRPr/>
          </a:p>
        </p:txBody>
      </p:sp>
      <p:sp>
        <p:nvSpPr>
          <p:cNvPr id="493" name="Google Shape;493;p57"/>
          <p:cNvSpPr txBox="1"/>
          <p:nvPr>
            <p:ph idx="1" type="subTitle"/>
          </p:nvPr>
        </p:nvSpPr>
        <p:spPr>
          <a:xfrm>
            <a:off x="437150" y="1405975"/>
            <a:ext cx="8267100" cy="3388500"/>
          </a:xfrm>
          <a:prstGeom prst="rect">
            <a:avLst/>
          </a:prstGeom>
        </p:spPr>
        <p:txBody>
          <a:bodyPr anchorCtr="0" anchor="t" bIns="91425" lIns="91425" spcFirstLastPara="1" rIns="91425" wrap="square" tIns="91425">
            <a:normAutofit fontScale="70000" lnSpcReduction="10000"/>
          </a:bodyPr>
          <a:lstStyle/>
          <a:p>
            <a:pPr indent="-295275" lvl="0" marL="457200" rtl="0" algn="l">
              <a:lnSpc>
                <a:spcPct val="200000"/>
              </a:lnSpc>
              <a:spcBef>
                <a:spcPts val="0"/>
              </a:spcBef>
              <a:spcAft>
                <a:spcPts val="0"/>
              </a:spcAft>
              <a:buClr>
                <a:schemeClr val="dk1"/>
              </a:buClr>
              <a:buSzPct val="83333"/>
              <a:buChar char="●"/>
            </a:pPr>
            <a:r>
              <a:rPr b="1" lang="en">
                <a:solidFill>
                  <a:schemeClr val="dk1"/>
                </a:solidFill>
              </a:rPr>
              <a:t>Innovation:</a:t>
            </a:r>
            <a:r>
              <a:rPr lang="en">
                <a:solidFill>
                  <a:schemeClr val="dk1"/>
                </a:solidFill>
              </a:rPr>
              <a:t> </a:t>
            </a:r>
            <a:r>
              <a:rPr lang="en" sz="1800">
                <a:solidFill>
                  <a:schemeClr val="dk1"/>
                </a:solidFill>
              </a:rPr>
              <a:t>Hospitals give the Northeastern Regional Epilepsy Group exclusivity on all non-emergency epilepsy care and in return, the Northeastern Regional Epilepsy Group could make the hospital a prestigious epilepsy center, including very prestigious elective epilepsy surgery. </a:t>
            </a:r>
            <a:endParaRPr sz="1800">
              <a:solidFill>
                <a:schemeClr val="dk1"/>
              </a:solidFill>
            </a:endParaRPr>
          </a:p>
          <a:p>
            <a:pPr indent="-308610" lvl="0" marL="457200" rtl="0" algn="l">
              <a:lnSpc>
                <a:spcPct val="200000"/>
              </a:lnSpc>
              <a:spcBef>
                <a:spcPts val="0"/>
              </a:spcBef>
              <a:spcAft>
                <a:spcPts val="0"/>
              </a:spcAft>
              <a:buClr>
                <a:schemeClr val="dk1"/>
              </a:buClr>
              <a:buSzPct val="100000"/>
              <a:buChar char="●"/>
            </a:pPr>
            <a:r>
              <a:rPr lang="en" sz="1800">
                <a:solidFill>
                  <a:schemeClr val="dk1"/>
                </a:solidFill>
              </a:rPr>
              <a:t>By setting up specialized centers, the Northeastern Regional Epilepsy Group increased accessibility for individuals with epilepsy, ensuring they received the necessary medical attention for their condition which was strongly linked with the UN Sustainable Goal of Good Health and Well-Being.</a:t>
            </a:r>
            <a:endParaRPr sz="1800">
              <a:solidFill>
                <a:schemeClr val="dk1"/>
              </a:solidFill>
            </a:endParaRPr>
          </a:p>
          <a:p>
            <a:pPr indent="457200" lvl="0" marL="0" rtl="0" algn="l">
              <a:lnSpc>
                <a:spcPct val="200000"/>
              </a:lnSpc>
              <a:spcBef>
                <a:spcPts val="0"/>
              </a:spcBef>
              <a:spcAft>
                <a:spcPts val="0"/>
              </a:spcAft>
              <a:buClr>
                <a:schemeClr val="dk1"/>
              </a:buClr>
              <a:buSzPct val="73333"/>
              <a:buFont typeface="Arial"/>
              <a:buNone/>
            </a:pPr>
            <a:r>
              <a:t/>
            </a:r>
            <a:endParaRPr sz="15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8"/>
          <p:cNvSpPr txBox="1"/>
          <p:nvPr>
            <p:ph type="title"/>
          </p:nvPr>
        </p:nvSpPr>
        <p:spPr>
          <a:xfrm>
            <a:off x="-175875" y="399250"/>
            <a:ext cx="7387500" cy="49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Collection Methods and Timeline</a:t>
            </a:r>
            <a:endParaRPr/>
          </a:p>
        </p:txBody>
      </p:sp>
      <p:sp>
        <p:nvSpPr>
          <p:cNvPr id="499" name="Google Shape;499;p58"/>
          <p:cNvSpPr txBox="1"/>
          <p:nvPr/>
        </p:nvSpPr>
        <p:spPr>
          <a:xfrm>
            <a:off x="350150" y="1548475"/>
            <a:ext cx="3969000" cy="309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Montserrat"/>
                <a:ea typeface="Montserrat"/>
                <a:cs typeface="Montserrat"/>
                <a:sym typeface="Montserrat"/>
              </a:rPr>
              <a:t>Data collection #1</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dk2"/>
                </a:solidFill>
                <a:latin typeface="Montserrat"/>
                <a:ea typeface="Montserrat"/>
                <a:cs typeface="Montserrat"/>
                <a:sym typeface="Montserrat"/>
              </a:rPr>
              <a:t>Method: Phone Interview</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dk2"/>
                </a:solidFill>
                <a:latin typeface="Montserrat"/>
                <a:ea typeface="Montserrat"/>
                <a:cs typeface="Montserrat"/>
                <a:sym typeface="Montserrat"/>
              </a:rPr>
              <a:t>Date: September 30</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dk2"/>
                </a:solidFill>
                <a:latin typeface="Montserrat"/>
                <a:ea typeface="Montserrat"/>
                <a:cs typeface="Montserrat"/>
                <a:sym typeface="Montserrat"/>
              </a:rPr>
              <a:t>Duration: 26 Minutes</a:t>
            </a:r>
            <a:endParaRPr sz="1800">
              <a:solidFill>
                <a:schemeClr val="dk2"/>
              </a:solidFill>
              <a:latin typeface="Montserrat"/>
              <a:ea typeface="Montserrat"/>
              <a:cs typeface="Montserrat"/>
              <a:sym typeface="Montserrat"/>
            </a:endParaRPr>
          </a:p>
        </p:txBody>
      </p:sp>
      <p:sp>
        <p:nvSpPr>
          <p:cNvPr id="500" name="Google Shape;500;p58"/>
          <p:cNvSpPr txBox="1"/>
          <p:nvPr/>
        </p:nvSpPr>
        <p:spPr>
          <a:xfrm>
            <a:off x="4101750" y="1548475"/>
            <a:ext cx="4708500" cy="28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Montserrat"/>
                <a:ea typeface="Montserrat"/>
                <a:cs typeface="Montserrat"/>
                <a:sym typeface="Montserrat"/>
              </a:rPr>
              <a:t>Data Collection #2</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dk2"/>
                </a:solidFill>
                <a:latin typeface="Montserrat"/>
                <a:ea typeface="Montserrat"/>
                <a:cs typeface="Montserrat"/>
                <a:sym typeface="Montserrat"/>
              </a:rPr>
              <a:t>Method: Phone Interview</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dk2"/>
                </a:solidFill>
                <a:latin typeface="Montserrat"/>
                <a:ea typeface="Montserrat"/>
                <a:cs typeface="Montserrat"/>
                <a:sym typeface="Montserrat"/>
              </a:rPr>
              <a:t>Date: October 14</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800">
                <a:solidFill>
                  <a:schemeClr val="dk2"/>
                </a:solidFill>
                <a:latin typeface="Montserrat"/>
                <a:ea typeface="Montserrat"/>
                <a:cs typeface="Montserrat"/>
                <a:sym typeface="Montserrat"/>
              </a:rPr>
              <a:t>Duration: 40 Minutes</a:t>
            </a:r>
            <a:endParaRPr sz="1800">
              <a:solidFill>
                <a:schemeClr val="dk2"/>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9"/>
          <p:cNvSpPr txBox="1"/>
          <p:nvPr>
            <p:ph type="title"/>
          </p:nvPr>
        </p:nvSpPr>
        <p:spPr>
          <a:xfrm>
            <a:off x="127500" y="562963"/>
            <a:ext cx="8772600" cy="49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Integration with First Course Concept</a:t>
            </a:r>
            <a:endParaRPr sz="3200"/>
          </a:p>
        </p:txBody>
      </p:sp>
      <p:sp>
        <p:nvSpPr>
          <p:cNvPr id="506" name="Google Shape;506;p59"/>
          <p:cNvSpPr txBox="1"/>
          <p:nvPr>
            <p:ph idx="4294967295" type="subTitle"/>
          </p:nvPr>
        </p:nvSpPr>
        <p:spPr>
          <a:xfrm>
            <a:off x="127500" y="1325200"/>
            <a:ext cx="4643700" cy="2071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Concept 1 from week 2:</a:t>
            </a:r>
            <a:r>
              <a:rPr b="1" lang="en" sz="1600"/>
              <a:t> </a:t>
            </a:r>
            <a:r>
              <a:rPr lang="en" sz="1600"/>
              <a:t> “Team types” (cross-functional)</a:t>
            </a:r>
            <a:endParaRPr sz="1600"/>
          </a:p>
          <a:p>
            <a:pPr indent="0" lvl="0" marL="0" rtl="0" algn="l">
              <a:spcBef>
                <a:spcPts val="1200"/>
              </a:spcBef>
              <a:spcAft>
                <a:spcPts val="1200"/>
              </a:spcAft>
              <a:buNone/>
            </a:pPr>
            <a:r>
              <a:rPr b="1" lang="en"/>
              <a:t>Definition:</a:t>
            </a:r>
            <a:r>
              <a:rPr b="1" lang="en" sz="1600"/>
              <a:t> </a:t>
            </a:r>
            <a:r>
              <a:rPr lang="en" sz="1600"/>
              <a:t>Cross functional teams are those comprised of different areas in an organization to solve a problem or achieve a common goal. </a:t>
            </a:r>
            <a:endParaRPr sz="1600"/>
          </a:p>
        </p:txBody>
      </p:sp>
      <p:pic>
        <p:nvPicPr>
          <p:cNvPr id="507" name="Google Shape;507;p59"/>
          <p:cNvPicPr preferRelativeResize="0"/>
          <p:nvPr/>
        </p:nvPicPr>
        <p:blipFill>
          <a:blip r:embed="rId3">
            <a:alphaModFix/>
          </a:blip>
          <a:stretch>
            <a:fillRect/>
          </a:stretch>
        </p:blipFill>
        <p:spPr>
          <a:xfrm>
            <a:off x="4995000" y="1388563"/>
            <a:ext cx="3905100" cy="220346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0"/>
          <p:cNvSpPr txBox="1"/>
          <p:nvPr>
            <p:ph idx="1" type="subTitle"/>
          </p:nvPr>
        </p:nvSpPr>
        <p:spPr>
          <a:xfrm>
            <a:off x="1511400" y="1263075"/>
            <a:ext cx="6121200" cy="237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t>Diverse expertise:</a:t>
            </a:r>
            <a:endParaRPr b="1" sz="1800"/>
          </a:p>
          <a:p>
            <a:pPr indent="0" lvl="0" marL="0" rtl="0" algn="ctr">
              <a:spcBef>
                <a:spcPts val="1000"/>
              </a:spcBef>
              <a:spcAft>
                <a:spcPts val="1000"/>
              </a:spcAft>
              <a:buNone/>
            </a:pPr>
            <a:r>
              <a:rPr lang="en" sz="1600"/>
              <a:t>The Northeast Regional Epilepsy Group combines a wide variety of skills and specialties including doctors, psychiatrists, nurses, technicians, researchers, managers, and many more. The collaboration among these individuals leads to the organization’s innovative treatments such as their personalized epilepsy management plans. </a:t>
            </a:r>
            <a:endParaRPr sz="1600"/>
          </a:p>
        </p:txBody>
      </p:sp>
      <p:sp>
        <p:nvSpPr>
          <p:cNvPr id="513" name="Google Shape;513;p60"/>
          <p:cNvSpPr txBox="1"/>
          <p:nvPr>
            <p:ph type="title"/>
          </p:nvPr>
        </p:nvSpPr>
        <p:spPr>
          <a:xfrm>
            <a:off x="1732050" y="456675"/>
            <a:ext cx="5679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Evidence linking concept</a:t>
            </a:r>
            <a:endParaRPr sz="3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1"/>
          <p:cNvSpPr txBox="1"/>
          <p:nvPr>
            <p:ph idx="1" type="subTitle"/>
          </p:nvPr>
        </p:nvSpPr>
        <p:spPr>
          <a:xfrm>
            <a:off x="1511400" y="1263075"/>
            <a:ext cx="6121200" cy="237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t>Research and Innovation:</a:t>
            </a:r>
            <a:endParaRPr b="1" sz="1800"/>
          </a:p>
          <a:p>
            <a:pPr indent="0" lvl="0" marL="0" rtl="0" algn="ctr">
              <a:spcBef>
                <a:spcPts val="1000"/>
              </a:spcBef>
              <a:spcAft>
                <a:spcPts val="1000"/>
              </a:spcAft>
              <a:buNone/>
            </a:pPr>
            <a:r>
              <a:rPr lang="en" sz="1600"/>
              <a:t>The Northeast Regional Epilepsy Group has a strong focus on research and </a:t>
            </a:r>
            <a:r>
              <a:rPr lang="en" sz="1600"/>
              <a:t>investigating where improvement on treatment can occur. The group conducts research studies and clinical trials, where collaboration among physicians, neuropsychologists, and researchers is critical to designing studies, analyzing data, and applying findings to patient care.</a:t>
            </a:r>
            <a:endParaRPr sz="1600"/>
          </a:p>
        </p:txBody>
      </p:sp>
      <p:sp>
        <p:nvSpPr>
          <p:cNvPr id="519" name="Google Shape;519;p61"/>
          <p:cNvSpPr txBox="1"/>
          <p:nvPr>
            <p:ph type="title"/>
          </p:nvPr>
        </p:nvSpPr>
        <p:spPr>
          <a:xfrm>
            <a:off x="1732050" y="456675"/>
            <a:ext cx="5679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Evidence linking concept</a:t>
            </a:r>
            <a:endParaRPr sz="3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2"/>
          <p:cNvSpPr txBox="1"/>
          <p:nvPr>
            <p:ph type="title"/>
          </p:nvPr>
        </p:nvSpPr>
        <p:spPr>
          <a:xfrm>
            <a:off x="145675" y="380300"/>
            <a:ext cx="8772600" cy="49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Integration with Second Course Concept</a:t>
            </a:r>
            <a:endParaRPr/>
          </a:p>
        </p:txBody>
      </p:sp>
      <p:sp>
        <p:nvSpPr>
          <p:cNvPr id="525" name="Google Shape;525;p62"/>
          <p:cNvSpPr txBox="1"/>
          <p:nvPr>
            <p:ph idx="1" type="subTitle"/>
          </p:nvPr>
        </p:nvSpPr>
        <p:spPr>
          <a:xfrm>
            <a:off x="145675" y="1398925"/>
            <a:ext cx="4391700" cy="30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Concept 2 from week 5: </a:t>
            </a:r>
            <a:r>
              <a:rPr lang="en" sz="1800"/>
              <a:t> </a:t>
            </a:r>
            <a:r>
              <a:rPr lang="en" sz="1600"/>
              <a:t>“Justice and Values” (</a:t>
            </a:r>
            <a:r>
              <a:rPr lang="en" sz="1600"/>
              <a:t>acting consistently with one’s values)</a:t>
            </a:r>
            <a:endParaRPr sz="1600"/>
          </a:p>
          <a:p>
            <a:pPr indent="0" lvl="0" marL="0" rtl="0" algn="l">
              <a:spcBef>
                <a:spcPts val="1200"/>
              </a:spcBef>
              <a:spcAft>
                <a:spcPts val="0"/>
              </a:spcAft>
              <a:buNone/>
            </a:pPr>
            <a:r>
              <a:rPr b="1" lang="en" sz="1800"/>
              <a:t>Definition</a:t>
            </a:r>
            <a:r>
              <a:rPr b="1" lang="en" sz="1800"/>
              <a:t>: </a:t>
            </a:r>
            <a:r>
              <a:rPr lang="en" sz="1600"/>
              <a:t>Acting </a:t>
            </a:r>
            <a:r>
              <a:rPr lang="en" sz="1600"/>
              <a:t>consistently</a:t>
            </a:r>
            <a:r>
              <a:rPr lang="en" sz="1600"/>
              <a:t> with ones values means making choices and behaving in line with your core values and beliefs.</a:t>
            </a:r>
            <a:endParaRPr sz="1600"/>
          </a:p>
          <a:p>
            <a:pPr indent="0" lvl="0" marL="0" rtl="0" algn="l">
              <a:spcBef>
                <a:spcPts val="1200"/>
              </a:spcBef>
              <a:spcAft>
                <a:spcPts val="1200"/>
              </a:spcAft>
              <a:buNone/>
            </a:pPr>
            <a:r>
              <a:t/>
            </a:r>
            <a:endParaRPr sz="1400"/>
          </a:p>
        </p:txBody>
      </p:sp>
      <p:pic>
        <p:nvPicPr>
          <p:cNvPr id="526" name="Google Shape;526;p62"/>
          <p:cNvPicPr preferRelativeResize="0"/>
          <p:nvPr/>
        </p:nvPicPr>
        <p:blipFill>
          <a:blip r:embed="rId3">
            <a:alphaModFix/>
          </a:blip>
          <a:stretch>
            <a:fillRect/>
          </a:stretch>
        </p:blipFill>
        <p:spPr>
          <a:xfrm>
            <a:off x="4865775" y="1453149"/>
            <a:ext cx="3778700" cy="2116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3"/>
          <p:cNvSpPr txBox="1"/>
          <p:nvPr>
            <p:ph type="title"/>
          </p:nvPr>
        </p:nvSpPr>
        <p:spPr>
          <a:xfrm>
            <a:off x="2171325" y="268775"/>
            <a:ext cx="458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Evidence linking concept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32" name="Google Shape;532;p63"/>
          <p:cNvSpPr txBox="1"/>
          <p:nvPr/>
        </p:nvSpPr>
        <p:spPr>
          <a:xfrm>
            <a:off x="315100" y="966750"/>
            <a:ext cx="7554900" cy="261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Montserrat"/>
                <a:ea typeface="Montserrat"/>
                <a:cs typeface="Montserrat"/>
                <a:sym typeface="Montserrat"/>
              </a:rPr>
              <a:t>Core Values</a:t>
            </a:r>
            <a:endParaRPr b="1" sz="1800">
              <a:solidFill>
                <a:schemeClr val="dk2"/>
              </a:solidFill>
              <a:latin typeface="Montserrat"/>
              <a:ea typeface="Montserrat"/>
              <a:cs typeface="Montserrat"/>
              <a:sym typeface="Montserrat"/>
            </a:endParaRPr>
          </a:p>
        </p:txBody>
      </p:sp>
      <p:sp>
        <p:nvSpPr>
          <p:cNvPr id="533" name="Google Shape;533;p63"/>
          <p:cNvSpPr txBox="1"/>
          <p:nvPr/>
        </p:nvSpPr>
        <p:spPr>
          <a:xfrm>
            <a:off x="940025" y="1367300"/>
            <a:ext cx="6441300" cy="245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Montserrat"/>
                <a:ea typeface="Montserrat"/>
                <a:cs typeface="Montserrat"/>
                <a:sym typeface="Montserrat"/>
              </a:rPr>
              <a:t>The patient first values instilled into the </a:t>
            </a:r>
            <a:r>
              <a:rPr lang="en" sz="1600">
                <a:solidFill>
                  <a:schemeClr val="dk2"/>
                </a:solidFill>
                <a:latin typeface="Montserrat"/>
                <a:ea typeface="Montserrat"/>
                <a:cs typeface="Montserrat"/>
                <a:sym typeface="Montserrat"/>
              </a:rPr>
              <a:t>organization have allowed for over 30,000 patients served and several hundred epilepsy surgeries. Their guiding principle is to “develop our services around patient needs”. This is reflected in the Northeast Regional epilepsy being a leading research group in the epilepsy field. Proven by having 3 level 4 accredited epilepsy centers (Highest level given by National Association of Epilepsy Centers). </a:t>
            </a:r>
            <a:endParaRPr sz="1600">
              <a:solidFill>
                <a:schemeClr val="dk2"/>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4"/>
          <p:cNvSpPr txBox="1"/>
          <p:nvPr>
            <p:ph type="title"/>
          </p:nvPr>
        </p:nvSpPr>
        <p:spPr>
          <a:xfrm>
            <a:off x="2171325" y="268775"/>
            <a:ext cx="458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Evidence linking concept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39" name="Google Shape;539;p64"/>
          <p:cNvSpPr txBox="1"/>
          <p:nvPr/>
        </p:nvSpPr>
        <p:spPr>
          <a:xfrm>
            <a:off x="307475" y="1096075"/>
            <a:ext cx="7554900" cy="261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Montserrat"/>
                <a:ea typeface="Montserrat"/>
                <a:cs typeface="Montserrat"/>
                <a:sym typeface="Montserrat"/>
              </a:rPr>
              <a:t>Beliefs </a:t>
            </a:r>
            <a:endParaRPr b="1" sz="1800">
              <a:solidFill>
                <a:schemeClr val="dk2"/>
              </a:solidFill>
              <a:latin typeface="Montserrat"/>
              <a:ea typeface="Montserrat"/>
              <a:cs typeface="Montserrat"/>
              <a:sym typeface="Montserrat"/>
            </a:endParaRPr>
          </a:p>
        </p:txBody>
      </p:sp>
      <p:sp>
        <p:nvSpPr>
          <p:cNvPr id="540" name="Google Shape;540;p64"/>
          <p:cNvSpPr txBox="1"/>
          <p:nvPr/>
        </p:nvSpPr>
        <p:spPr>
          <a:xfrm>
            <a:off x="940025" y="1435775"/>
            <a:ext cx="6441300" cy="245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Montserrat"/>
                <a:ea typeface="Montserrat"/>
                <a:cs typeface="Montserrat"/>
                <a:sym typeface="Montserrat"/>
              </a:rPr>
              <a:t>Similar to their core values, the Northeast Regional Epilepsy Group believes in patient care, </a:t>
            </a:r>
            <a:r>
              <a:rPr lang="en" sz="1600">
                <a:solidFill>
                  <a:schemeClr val="dk2"/>
                </a:solidFill>
                <a:latin typeface="Montserrat"/>
                <a:ea typeface="Montserrat"/>
                <a:cs typeface="Montserrat"/>
                <a:sym typeface="Montserrat"/>
              </a:rPr>
              <a:t>research, and education. In order to act according to these beliefs they insure that they only hire the most qualified staff, many of the epilepsy specialists were voted Best Doctors of America and America's Top Physicians. In addition, they provide second opinions, out of state, and international treatment consultations furthering how they act consistently with one’s value.</a:t>
            </a:r>
            <a:endParaRPr sz="1600">
              <a:solidFill>
                <a:schemeClr val="dk2"/>
              </a:solidFill>
              <a:latin typeface="Montserrat"/>
              <a:ea typeface="Montserrat"/>
              <a:cs typeface="Montserrat"/>
              <a:sym typeface="Montserrat"/>
            </a:endParaRPr>
          </a:p>
          <a:p>
            <a:pPr indent="0" lvl="0" marL="0" rtl="0" algn="ctr">
              <a:spcBef>
                <a:spcPts val="0"/>
              </a:spcBef>
              <a:spcAft>
                <a:spcPts val="0"/>
              </a:spcAft>
              <a:buNone/>
            </a:pPr>
            <a:r>
              <a:t/>
            </a:r>
            <a:endParaRPr sz="1600">
              <a:solidFill>
                <a:schemeClr val="dk2"/>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5"/>
          <p:cNvSpPr txBox="1"/>
          <p:nvPr>
            <p:ph type="title"/>
          </p:nvPr>
        </p:nvSpPr>
        <p:spPr>
          <a:xfrm>
            <a:off x="1358400" y="581975"/>
            <a:ext cx="6427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Recommendation #1</a:t>
            </a:r>
            <a:endParaRPr/>
          </a:p>
        </p:txBody>
      </p:sp>
      <p:sp>
        <p:nvSpPr>
          <p:cNvPr id="546" name="Google Shape;546;p65"/>
          <p:cNvSpPr txBox="1"/>
          <p:nvPr>
            <p:ph idx="6" type="subTitle"/>
          </p:nvPr>
        </p:nvSpPr>
        <p:spPr>
          <a:xfrm>
            <a:off x="1748400" y="1253975"/>
            <a:ext cx="5338800" cy="618600"/>
          </a:xfrm>
          <a:prstGeom prst="rect">
            <a:avLst/>
          </a:prstGeom>
        </p:spPr>
        <p:txBody>
          <a:bodyPr anchorCtr="0" anchor="t" bIns="91425" lIns="91425" spcFirstLastPara="1" rIns="91425" wrap="square" tIns="91425">
            <a:noAutofit/>
          </a:bodyPr>
          <a:lstStyle/>
          <a:p>
            <a:pPr indent="-330200" lvl="0" marL="457200" rtl="0" algn="ctr">
              <a:spcBef>
                <a:spcPts val="0"/>
              </a:spcBef>
              <a:spcAft>
                <a:spcPts val="0"/>
              </a:spcAft>
              <a:buSzPts val="1600"/>
              <a:buChar char="●"/>
            </a:pPr>
            <a:r>
              <a:rPr lang="en" sz="1600"/>
              <a:t>Organize meetings and workshops where </a:t>
            </a:r>
            <a:r>
              <a:rPr lang="en" sz="1600"/>
              <a:t>members</a:t>
            </a:r>
            <a:r>
              <a:rPr lang="en" sz="1600"/>
              <a:t> from each branch of the company come together to learn and discuss the inner workings of </a:t>
            </a:r>
            <a:r>
              <a:rPr lang="en" sz="1600"/>
              <a:t>another</a:t>
            </a:r>
            <a:r>
              <a:rPr lang="en" sz="1600"/>
              <a:t> branch. </a:t>
            </a:r>
            <a:endParaRPr sz="1600"/>
          </a:p>
          <a:p>
            <a:pPr indent="0" lvl="0" marL="0" rtl="0" algn="ctr">
              <a:spcBef>
                <a:spcPts val="0"/>
              </a:spcBef>
              <a:spcAft>
                <a:spcPts val="0"/>
              </a:spcAft>
              <a:buNone/>
            </a:pPr>
            <a:r>
              <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545"/>
                                        </p:tgtEl>
                                        <p:attrNameLst>
                                          <p:attrName>style.visibility</p:attrName>
                                        </p:attrNameLst>
                                      </p:cBhvr>
                                      <p:to>
                                        <p:strVal val="visible"/>
                                      </p:to>
                                    </p:set>
                                    <p:anim calcmode="lin" valueType="num">
                                      <p:cBhvr additive="base">
                                        <p:cTn dur="1000"/>
                                        <p:tgtEl>
                                          <p:spTgt spid="54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0"/>
                                  </p:stCondLst>
                                  <p:childTnLst>
                                    <p:set>
                                      <p:cBhvr>
                                        <p:cTn dur="1" fill="hold">
                                          <p:stCondLst>
                                            <p:cond delay="0"/>
                                          </p:stCondLst>
                                        </p:cTn>
                                        <p:tgtEl>
                                          <p:spTgt spid="546"/>
                                        </p:tgtEl>
                                        <p:attrNameLst>
                                          <p:attrName>style.visibility</p:attrName>
                                        </p:attrNameLst>
                                      </p:cBhvr>
                                      <p:to>
                                        <p:strVal val="visible"/>
                                      </p:to>
                                    </p:set>
                                    <p:anim calcmode="lin" valueType="num">
                                      <p:cBhvr additive="base">
                                        <p:cTn dur="1000"/>
                                        <p:tgtEl>
                                          <p:spTgt spid="54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66"/>
          <p:cNvSpPr txBox="1"/>
          <p:nvPr>
            <p:ph idx="1" type="subTitle"/>
          </p:nvPr>
        </p:nvSpPr>
        <p:spPr>
          <a:xfrm>
            <a:off x="1511850" y="1414448"/>
            <a:ext cx="6120300" cy="375000"/>
          </a:xfrm>
          <a:prstGeom prst="rect">
            <a:avLst/>
          </a:prstGeom>
        </p:spPr>
        <p:txBody>
          <a:bodyPr anchorCtr="0" anchor="t" bIns="91425" lIns="91425" spcFirstLastPara="1" rIns="91425" wrap="square" tIns="91425">
            <a:noAutofit/>
          </a:bodyPr>
          <a:lstStyle/>
          <a:p>
            <a:pPr indent="-330200" lvl="0" marL="457200" rtl="0" algn="ctr">
              <a:spcBef>
                <a:spcPts val="0"/>
              </a:spcBef>
              <a:spcAft>
                <a:spcPts val="0"/>
              </a:spcAft>
              <a:buSzPts val="1600"/>
              <a:buChar char="●"/>
            </a:pPr>
            <a:r>
              <a:rPr lang="en"/>
              <a:t>Some members may not be willing to put in the extra time it would take to hold these meetings. </a:t>
            </a:r>
            <a:endParaRPr/>
          </a:p>
          <a:p>
            <a:pPr indent="-330200" lvl="0" marL="457200" rtl="0" algn="ctr">
              <a:spcBef>
                <a:spcPts val="0"/>
              </a:spcBef>
              <a:spcAft>
                <a:spcPts val="0"/>
              </a:spcAft>
              <a:buSzPts val="1600"/>
              <a:buChar char="●"/>
            </a:pPr>
            <a:r>
              <a:rPr lang="en"/>
              <a:t>The time it would take to hold these meetings/workshops can be spent on other things. </a:t>
            </a:r>
            <a:endParaRPr/>
          </a:p>
          <a:p>
            <a:pPr indent="-330200" lvl="0" marL="457200" rtl="0" algn="ctr">
              <a:spcBef>
                <a:spcPts val="0"/>
              </a:spcBef>
              <a:spcAft>
                <a:spcPts val="0"/>
              </a:spcAft>
              <a:buSzPts val="1600"/>
              <a:buChar char="●"/>
            </a:pPr>
            <a:r>
              <a:rPr lang="en"/>
              <a:t>Clashes between </a:t>
            </a:r>
            <a:r>
              <a:rPr lang="en"/>
              <a:t>members</a:t>
            </a:r>
            <a:r>
              <a:rPr lang="en"/>
              <a:t> with different skill sets, power, and knowledge could occur </a:t>
            </a:r>
            <a:endParaRPr/>
          </a:p>
        </p:txBody>
      </p:sp>
      <p:sp>
        <p:nvSpPr>
          <p:cNvPr id="552" name="Google Shape;552;p66"/>
          <p:cNvSpPr txBox="1"/>
          <p:nvPr/>
        </p:nvSpPr>
        <p:spPr>
          <a:xfrm>
            <a:off x="1111350" y="581750"/>
            <a:ext cx="6921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dk1"/>
                </a:solidFill>
                <a:latin typeface="Vidaloka"/>
                <a:ea typeface="Vidaloka"/>
                <a:cs typeface="Vidaloka"/>
                <a:sym typeface="Vidaloka"/>
              </a:rPr>
              <a:t>Downsides of </a:t>
            </a:r>
            <a:r>
              <a:rPr lang="en" sz="3000">
                <a:solidFill>
                  <a:schemeClr val="dk1"/>
                </a:solidFill>
                <a:latin typeface="Vidaloka"/>
                <a:ea typeface="Vidaloka"/>
                <a:cs typeface="Vidaloka"/>
                <a:sym typeface="Vidaloka"/>
              </a:rPr>
              <a:t>Recommendation #1</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7"/>
          <p:cNvSpPr txBox="1"/>
          <p:nvPr>
            <p:ph type="title"/>
          </p:nvPr>
        </p:nvSpPr>
        <p:spPr>
          <a:xfrm>
            <a:off x="1358400" y="483075"/>
            <a:ext cx="6427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Recommendation </a:t>
            </a:r>
            <a:r>
              <a:rPr lang="en"/>
              <a:t>#2</a:t>
            </a:r>
            <a:endParaRPr/>
          </a:p>
        </p:txBody>
      </p:sp>
      <p:sp>
        <p:nvSpPr>
          <p:cNvPr id="558" name="Google Shape;558;p67"/>
          <p:cNvSpPr txBox="1"/>
          <p:nvPr>
            <p:ph idx="6" type="subTitle"/>
          </p:nvPr>
        </p:nvSpPr>
        <p:spPr>
          <a:xfrm>
            <a:off x="1570750" y="1253975"/>
            <a:ext cx="6427200" cy="13509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SzPts val="1600"/>
              <a:buChar char="●"/>
            </a:pPr>
            <a:r>
              <a:rPr lang="en" sz="1600"/>
              <a:t>Develop a reward system for employees, actively demonstrating the organization’s values of helping to provide healthcare to patients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557"/>
                                        </p:tgtEl>
                                        <p:attrNameLst>
                                          <p:attrName>style.visibility</p:attrName>
                                        </p:attrNameLst>
                                      </p:cBhvr>
                                      <p:to>
                                        <p:strVal val="visible"/>
                                      </p:to>
                                    </p:set>
                                    <p:anim calcmode="lin" valueType="num">
                                      <p:cBhvr additive="base">
                                        <p:cTn dur="1000"/>
                                        <p:tgtEl>
                                          <p:spTgt spid="55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8"/>
          <p:cNvSpPr txBox="1"/>
          <p:nvPr>
            <p:ph idx="1" type="subTitle"/>
          </p:nvPr>
        </p:nvSpPr>
        <p:spPr>
          <a:xfrm>
            <a:off x="590350" y="1519025"/>
            <a:ext cx="7896000" cy="3026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Unrewarded employees may feel unvalued and reduce effort</a:t>
            </a:r>
            <a:endParaRPr/>
          </a:p>
          <a:p>
            <a:pPr indent="0" lvl="0" marL="457200" rtl="0" algn="l">
              <a:spcBef>
                <a:spcPts val="1200"/>
              </a:spcBef>
              <a:spcAft>
                <a:spcPts val="0"/>
              </a:spcAft>
              <a:buNone/>
            </a:pPr>
            <a:r>
              <a:t/>
            </a:r>
            <a:endParaRPr/>
          </a:p>
          <a:p>
            <a:pPr indent="-330200" lvl="0" marL="457200" rtl="0" algn="l">
              <a:spcBef>
                <a:spcPts val="1200"/>
              </a:spcBef>
              <a:spcAft>
                <a:spcPts val="0"/>
              </a:spcAft>
              <a:buSzPts val="1600"/>
              <a:buChar char="●"/>
            </a:pPr>
            <a:r>
              <a:rPr lang="en"/>
              <a:t>Monitoring behaviors adds to managers' workload</a:t>
            </a:r>
            <a:endParaRPr/>
          </a:p>
          <a:p>
            <a:pPr indent="0" lvl="0" marL="0" rtl="0" algn="l">
              <a:spcBef>
                <a:spcPts val="1200"/>
              </a:spcBef>
              <a:spcAft>
                <a:spcPts val="0"/>
              </a:spcAft>
              <a:buNone/>
            </a:pPr>
            <a:r>
              <a:t/>
            </a:r>
            <a:endParaRPr/>
          </a:p>
          <a:p>
            <a:pPr indent="-330200" lvl="0" marL="457200" rtl="0" algn="l">
              <a:spcBef>
                <a:spcPts val="1200"/>
              </a:spcBef>
              <a:spcAft>
                <a:spcPts val="0"/>
              </a:spcAft>
              <a:buSzPts val="1600"/>
              <a:buChar char="●"/>
            </a:pPr>
            <a:r>
              <a:rPr lang="en"/>
              <a:t>Excessive competition could shift focus from values to short-term rewards</a:t>
            </a:r>
            <a:endParaRPr/>
          </a:p>
        </p:txBody>
      </p:sp>
      <p:sp>
        <p:nvSpPr>
          <p:cNvPr id="564" name="Google Shape;564;p68"/>
          <p:cNvSpPr txBox="1"/>
          <p:nvPr/>
        </p:nvSpPr>
        <p:spPr>
          <a:xfrm>
            <a:off x="1111350" y="581750"/>
            <a:ext cx="6921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dk1"/>
                </a:solidFill>
                <a:latin typeface="Vidaloka"/>
                <a:ea typeface="Vidaloka"/>
                <a:cs typeface="Vidaloka"/>
                <a:sym typeface="Vidaloka"/>
              </a:rPr>
              <a:t>Downsides of Recommendation #2</a:t>
            </a:r>
            <a:endParaRPr>
              <a:latin typeface="Vidaloka"/>
              <a:ea typeface="Vidaloka"/>
              <a:cs typeface="Vidaloka"/>
              <a:sym typeface="Vidalok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69"/>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Communication Strategies and Influencing </a:t>
            </a:r>
            <a:r>
              <a:rPr lang="en" sz="2700"/>
              <a:t>Tactics</a:t>
            </a:r>
            <a:endParaRPr sz="2700"/>
          </a:p>
        </p:txBody>
      </p:sp>
      <p:sp>
        <p:nvSpPr>
          <p:cNvPr id="570" name="Google Shape;570;p69"/>
          <p:cNvSpPr txBox="1"/>
          <p:nvPr/>
        </p:nvSpPr>
        <p:spPr>
          <a:xfrm>
            <a:off x="456450" y="1283200"/>
            <a:ext cx="8231100" cy="2893800"/>
          </a:xfrm>
          <a:prstGeom prst="rect">
            <a:avLst/>
          </a:prstGeom>
          <a:noFill/>
          <a:ln>
            <a:noFill/>
          </a:ln>
        </p:spPr>
        <p:txBody>
          <a:bodyPr anchorCtr="0" anchor="t" bIns="91425" lIns="91425" spcFirstLastPara="1" rIns="91425" wrap="square" tIns="91425">
            <a:spAutoFit/>
          </a:bodyPr>
          <a:lstStyle/>
          <a:p>
            <a:pPr indent="-330200" lvl="0" marL="457200" rtl="0" algn="l">
              <a:lnSpc>
                <a:spcPct val="100000"/>
              </a:lnSpc>
              <a:spcBef>
                <a:spcPts val="0"/>
              </a:spcBef>
              <a:spcAft>
                <a:spcPts val="0"/>
              </a:spcAft>
              <a:buClr>
                <a:schemeClr val="dk1"/>
              </a:buClr>
              <a:buSzPts val="1600"/>
              <a:buFont typeface="Montserrat"/>
              <a:buChar char="●"/>
            </a:pPr>
            <a:r>
              <a:rPr lang="en" sz="1600">
                <a:solidFill>
                  <a:schemeClr val="dk1"/>
                </a:solidFill>
                <a:latin typeface="Montserrat"/>
                <a:ea typeface="Montserrat"/>
                <a:cs typeface="Montserrat"/>
                <a:sym typeface="Montserrat"/>
              </a:rPr>
              <a:t>Providing data that backs up recommendations</a:t>
            </a:r>
            <a:endParaRPr sz="1600">
              <a:solidFill>
                <a:schemeClr val="dk1"/>
              </a:solidFill>
              <a:latin typeface="Montserrat"/>
              <a:ea typeface="Montserrat"/>
              <a:cs typeface="Montserrat"/>
              <a:sym typeface="Montserrat"/>
            </a:endParaRPr>
          </a:p>
          <a:p>
            <a:pPr indent="-330200" lvl="1" marL="914400" rtl="0" algn="l">
              <a:spcBef>
                <a:spcPts val="0"/>
              </a:spcBef>
              <a:spcAft>
                <a:spcPts val="0"/>
              </a:spcAft>
              <a:buClr>
                <a:schemeClr val="dk1"/>
              </a:buClr>
              <a:buSzPts val="1600"/>
              <a:buFont typeface="Montserrat"/>
              <a:buChar char="○"/>
            </a:pPr>
            <a:r>
              <a:rPr lang="en" sz="1600">
                <a:solidFill>
                  <a:schemeClr val="dk1"/>
                </a:solidFill>
                <a:latin typeface="Montserrat"/>
                <a:ea typeface="Montserrat"/>
                <a:cs typeface="Montserrat"/>
                <a:sym typeface="Montserrat"/>
              </a:rPr>
              <a:t>By numerically showing how recommendations would lead to expansion and showing how other companies who took a similar approach succeeded, it is more likely that the client will take any recommendations and believe it is effective</a:t>
            </a:r>
            <a:endParaRPr sz="16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600">
              <a:solidFill>
                <a:schemeClr val="dk1"/>
              </a:solidFill>
              <a:latin typeface="Montserrat"/>
              <a:ea typeface="Montserrat"/>
              <a:cs typeface="Montserrat"/>
              <a:sym typeface="Montserrat"/>
            </a:endParaRPr>
          </a:p>
          <a:p>
            <a:pPr indent="-330200" lvl="0" marL="457200" rtl="0" algn="l">
              <a:spcBef>
                <a:spcPts val="0"/>
              </a:spcBef>
              <a:spcAft>
                <a:spcPts val="0"/>
              </a:spcAft>
              <a:buClr>
                <a:schemeClr val="dk1"/>
              </a:buClr>
              <a:buSzPts val="1600"/>
              <a:buFont typeface="Montserrat"/>
              <a:buChar char="●"/>
            </a:pPr>
            <a:r>
              <a:rPr lang="en" sz="1600">
                <a:solidFill>
                  <a:schemeClr val="dk1"/>
                </a:solidFill>
                <a:latin typeface="Montserrat"/>
                <a:ea typeface="Montserrat"/>
                <a:cs typeface="Montserrat"/>
                <a:sym typeface="Montserrat"/>
              </a:rPr>
              <a:t>Clear and detailed communication </a:t>
            </a:r>
            <a:endParaRPr sz="1600">
              <a:solidFill>
                <a:schemeClr val="dk1"/>
              </a:solidFill>
              <a:latin typeface="Montserrat"/>
              <a:ea typeface="Montserrat"/>
              <a:cs typeface="Montserrat"/>
              <a:sym typeface="Montserrat"/>
            </a:endParaRPr>
          </a:p>
          <a:p>
            <a:pPr indent="-330200" lvl="1" marL="914400" rtl="0" algn="l">
              <a:spcBef>
                <a:spcPts val="0"/>
              </a:spcBef>
              <a:spcAft>
                <a:spcPts val="0"/>
              </a:spcAft>
              <a:buClr>
                <a:schemeClr val="dk1"/>
              </a:buClr>
              <a:buSzPts val="1600"/>
              <a:buFont typeface="Montserrat"/>
              <a:buChar char="○"/>
            </a:pPr>
            <a:r>
              <a:rPr lang="en" sz="1600">
                <a:solidFill>
                  <a:schemeClr val="dk1"/>
                </a:solidFill>
                <a:latin typeface="Montserrat"/>
                <a:ea typeface="Montserrat"/>
                <a:cs typeface="Montserrat"/>
                <a:sym typeface="Montserrat"/>
              </a:rPr>
              <a:t>By breaking down recommendations into actionable steps with a timeline, requirements, and drawbacks of not doing so, the client would not find the plans as daunting and would be more likely to accept them. </a:t>
            </a:r>
            <a:endParaRPr sz="1600">
              <a:solidFill>
                <a:schemeClr val="dk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